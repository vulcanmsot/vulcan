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9a218d0a-34fb-0976-b1fd-2733be3c7529}">
          <p14:sldIdLst>
            <p14:sldId id="256"/>
            <p14:sldId id="257"/>
            <p14:sldId id="258"/>
          </p14:sldIdLst>
        </p14:section>
        <p14:section name="The Tracks" id="{b89b41b5-c8ec-cae9-d1e2-16a0a3557fdc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he Night" id="{1bfccc56-887c-bb23-60e3-44272aa6ac4e}">
          <p14:sldIdLst>
            <p14:sldId id="265"/>
            <p14:sldId id="266"/>
            <p14:sldId id="267"/>
          </p14:sldIdLst>
        </p14:section>
        <p14:section name="Rules &amp; Awards" id="{f3b250fd-0f0e-f969-5640-29313550926a}">
          <p14:sldIdLst>
            <p14:sldId id="268"/>
            <p14:sldId id="269"/>
            <p14:sldId id="270"/>
          </p14:sldIdLst>
        </p14:section>
        <p14:section name="Midnight Reveal (show at 12 AM)" id="{95dbdadd-1267-13dd-6e2c-b3d06abef05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Hack-O-Lantern, Vulcan Club's Halloween overnight hackathon, powered by Boom Pizza. Tonight the challenges are revealed.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Boom Pizza. Mention when the pizza will be served tonight.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at 12:00 AM. Hide this slide during the opening ceremony.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320040"/>
            <a:ext cx="283464" cy="13898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46888" cy="3017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8680" y="633679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HACK-O-LANTERN  ·  VULCAN CLUB × MIRAI SCHOOL OF TECHNOLOGY  ·  POWERED BY BOOM PIZZA</a:t>
            </a:r>
            <a:endParaRPr lang="en-US" sz="9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lloween moon illustration" descr="Orange moon, black cat, castle and jack-o-lan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1434" y="868680"/>
            <a:ext cx="3730261" cy="5989320"/>
          </a:xfrm>
          <a:prstGeom prst="rect">
            <a:avLst/>
          </a:prstGeom>
        </p:spPr>
      </p:pic>
      <p:pic>
        <p:nvPicPr>
          <p:cNvPr id="3" name="Vulcan Club logo" descr="Vulcan Club, Mirai School of Technology pres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834640" cy="1716857"/>
          </a:xfrm>
          <a:prstGeom prst="rect">
            <a:avLst/>
          </a:prstGeom>
        </p:spPr>
      </p:pic>
      <p:pic>
        <p:nvPicPr>
          <p:cNvPr id="4" name="Powered by Boom Pizza" descr="Powered by Boom Pizza, sponsoring the pizzas for the hackath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74320"/>
            <a:ext cx="3429000" cy="1910993"/>
          </a:xfrm>
          <a:prstGeom prst="rect">
            <a:avLst/>
          </a:prstGeom>
        </p:spPr>
      </p:pic>
      <p:sp>
        <p:nvSpPr>
          <p:cNvPr id="5" name="Title part 1"/>
          <p:cNvSpPr txBox="1"/>
          <p:nvPr/>
        </p:nvSpPr>
        <p:spPr>
          <a:xfrm>
            <a:off x="5029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HACK-</a:t>
            </a:r>
            <a:endParaRPr lang="en-US" sz="7000" dirty="0"/>
          </a:p>
        </p:txBody>
      </p:sp>
      <p:pic>
        <p:nvPicPr>
          <p:cNvPr id="6" name="Jack-o-lantern" descr="Jack-o-lanter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2286000"/>
            <a:ext cx="769908" cy="960120"/>
          </a:xfrm>
          <a:prstGeom prst="rect">
            <a:avLst/>
          </a:prstGeom>
        </p:spPr>
      </p:pic>
      <p:sp>
        <p:nvSpPr>
          <p:cNvPr id="7" name="Title dash"/>
          <p:cNvSpPr txBox="1"/>
          <p:nvPr/>
        </p:nvSpPr>
        <p:spPr>
          <a:xfrm>
            <a:off x="4498848" y="224028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-</a:t>
            </a:r>
            <a:endParaRPr lang="en-US" sz="7000" dirty="0"/>
          </a:p>
        </p:txBody>
      </p:sp>
      <p:sp>
        <p:nvSpPr>
          <p:cNvPr id="8" name="Title part 2"/>
          <p:cNvSpPr txBox="1"/>
          <p:nvPr/>
        </p:nvSpPr>
        <p:spPr>
          <a:xfrm>
            <a:off x="502920" y="32004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LANTERN</a:t>
            </a:r>
            <a:endParaRPr lang="en-US" sz="7000" dirty="0"/>
          </a:p>
        </p:txBody>
      </p:sp>
      <p:sp>
        <p:nvSpPr>
          <p:cNvPr id="9" name="Text 3"/>
          <p:cNvSpPr txBox="1"/>
          <p:nvPr/>
        </p:nvSpPr>
        <p:spPr>
          <a:xfrm>
            <a:off x="530352" y="4343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HALLOWEEN OVERNIGHT HACKATHON</a:t>
            </a:r>
            <a:endParaRPr lang="en-US" sz="1700" dirty="0"/>
          </a:p>
        </p:txBody>
      </p:sp>
      <p:sp>
        <p:nvSpPr>
          <p:cNvPr id="10" name="Text 4"/>
          <p:cNvSpPr txBox="1"/>
          <p:nvPr/>
        </p:nvSpPr>
        <p:spPr>
          <a:xfrm>
            <a:off x="530352" y="4846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chemeClr val="tx1"/>
                </a:solidFill>
              </a:rPr>
              <a:t>CODE</a:t>
            </a:r>
            <a:pPr indent="0" marL="0">
              <a:buNone/>
            </a:pPr>
            <a:r>
              <a:rPr lang="en-US" sz="1300" spc="400" kern="0" dirty="0">
                <a:solidFill>
                  <a:schemeClr val="accent1"/>
                </a:solidFill>
              </a:rPr>
              <a:t>   /   </a:t>
            </a:r>
            <a:pPr indent="0" marL="0">
              <a:buNone/>
            </a:pPr>
            <a:r>
              <a:rPr lang="en-US" sz="1300" spc="400" kern="0" dirty="0">
                <a:solidFill>
                  <a:schemeClr val="tx1"/>
                </a:solidFill>
              </a:rPr>
              <a:t>CREATE</a:t>
            </a:r>
            <a:pPr indent="0" marL="0">
              <a:buNone/>
            </a:pPr>
            <a:r>
              <a:rPr lang="en-US" sz="1300" spc="400" kern="0" dirty="0">
                <a:solidFill>
                  <a:schemeClr val="accent1"/>
                </a:solidFill>
              </a:rPr>
              <a:t>   /   </a:t>
            </a:r>
            <a:pPr indent="0" marL="0">
              <a:buNone/>
            </a:pPr>
            <a:r>
              <a:rPr lang="en-US" sz="1300" spc="400" kern="0" dirty="0">
                <a:solidFill>
                  <a:schemeClr val="tx1"/>
                </a:solidFill>
              </a:rPr>
              <a:t>CELEBRATE</a:t>
            </a:r>
            <a:endParaRPr lang="en-US" sz="1300" dirty="0"/>
          </a:p>
        </p:txBody>
      </p:sp>
      <p:sp>
        <p:nvSpPr>
          <p:cNvPr id="11" name="Text 5"/>
          <p:cNvSpPr txBox="1"/>
          <p:nvPr/>
        </p:nvSpPr>
        <p:spPr>
          <a:xfrm>
            <a:off x="530352" y="5532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OPENING CEREMONY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31 October 2026  ·  7:00 PM  ·  Mirai Floor, Mirai School of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 AT A GLANCE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Twelve hours. Five cursed problems.</a:t>
            </a:r>
            <a:endParaRPr lang="en-US" sz="3400" dirty="0"/>
          </a:p>
        </p:txBody>
      </p:sp>
      <p:sp>
        <p:nvSpPr>
          <p:cNvPr id="4" name="31 OCT &amp; 1 NOV circle"/>
          <p:cNvSpPr/>
          <p:nvPr/>
        </p:nvSpPr>
        <p:spPr>
          <a:xfrm>
            <a:off x="548640" y="1828800"/>
            <a:ext cx="713232" cy="71323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31 OCT &amp; 1 NOV icon" descr="31 OCT &amp; 1 NO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971446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8105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31 OCT &amp; 1 NOV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7:00 PM – 7:00 AM</a:t>
            </a:r>
            <a:endParaRPr lang="en-US" sz="1800" dirty="0"/>
          </a:p>
        </p:txBody>
      </p:sp>
      <p:sp>
        <p:nvSpPr>
          <p:cNvPr id="7" name="MIRAI FLOOR circle"/>
          <p:cNvSpPr/>
          <p:nvPr/>
        </p:nvSpPr>
        <p:spPr>
          <a:xfrm>
            <a:off x="548640" y="2816352"/>
            <a:ext cx="713232" cy="71323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MIRAI FLOOR icon" descr="MIRAI FLO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958998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79806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MIRAI FLOOR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Mirai School of Technology</a:t>
            </a:r>
            <a:endParaRPr lang="en-US" sz="1800" dirty="0"/>
          </a:p>
        </p:txBody>
      </p:sp>
      <p:sp>
        <p:nvSpPr>
          <p:cNvPr id="10" name="TEAM OF 3 circle"/>
          <p:cNvSpPr/>
          <p:nvPr/>
        </p:nvSpPr>
        <p:spPr>
          <a:xfrm>
            <a:off x="548640" y="3803904"/>
            <a:ext cx="713232" cy="71323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TEAM OF 3 icon" descr="TEAM OF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946550"/>
            <a:ext cx="427939" cy="42793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78561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TEAM OF 3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member present at each evaluation</a:t>
            </a:r>
            <a:endParaRPr lang="en-US" sz="1800" dirty="0"/>
          </a:p>
        </p:txBody>
      </p:sp>
      <p:sp>
        <p:nvSpPr>
          <p:cNvPr id="13" name="HACKING ENDS AT DAWN circle"/>
          <p:cNvSpPr/>
          <p:nvPr/>
        </p:nvSpPr>
        <p:spPr>
          <a:xfrm>
            <a:off x="548640" y="4791456"/>
            <a:ext cx="713232" cy="713232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4" name="HACKING ENDS AT DAWN icon" descr="HACKING ENDS AT DA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934102"/>
            <a:ext cx="427939" cy="427939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7731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HACKING ENDS AT DAWN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Code freeze at 6:45 AM</a:t>
            </a:r>
            <a:endParaRPr lang="en-US" sz="1800" dirty="0"/>
          </a:p>
        </p:txBody>
      </p:sp>
      <p:sp>
        <p:nvSpPr>
          <p:cNvPr id="16" name="Prize pool card"/>
          <p:cNvSpPr/>
          <p:nvPr/>
        </p:nvSpPr>
        <p:spPr>
          <a:xfrm>
            <a:off x="6400800" y="1783080"/>
            <a:ext cx="512064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7" name="Troph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057400"/>
            <a:ext cx="548640" cy="5486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523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tx1"/>
                </a:solidFill>
              </a:rPr>
              <a:t>PRIZE POOL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6766560" y="269748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₹9,000</a:t>
            </a:r>
            <a:endParaRPr lang="en-US" sz="7200" dirty="0"/>
          </a:p>
        </p:txBody>
      </p:sp>
      <p:sp>
        <p:nvSpPr>
          <p:cNvPr id="20" name="Text 13"/>
          <p:cNvSpPr txBox="1"/>
          <p:nvPr/>
        </p:nvSpPr>
        <p:spPr>
          <a:xfrm>
            <a:off x="67665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₹300 per team entry  ·  awards decided by the judges</a:t>
            </a:r>
            <a:endParaRPr lang="en-US" sz="1300" dirty="0"/>
          </a:p>
        </p:txBody>
      </p:sp>
      <p:pic>
        <p:nvPicPr>
          <p:cNvPr id="21" name="Challenge revealed at the opening ceremony" descr="Challenge revealed at the opening ceremon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617720"/>
            <a:ext cx="4937760" cy="13345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SPONSOR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Powered by Boom Pizza</a:t>
            </a:r>
            <a:endParaRPr lang="en-US" sz="3400" dirty="0"/>
          </a:p>
        </p:txBody>
      </p:sp>
      <p:sp>
        <p:nvSpPr>
          <p:cNvPr id="4" name="Sponsor badge ring"/>
          <p:cNvSpPr/>
          <p:nvPr/>
        </p:nvSpPr>
        <p:spPr>
          <a:xfrm>
            <a:off x="822960" y="1691640"/>
            <a:ext cx="4206240" cy="420624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5" name="Boom Pizza logo" descr="Boom Pizza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240280"/>
            <a:ext cx="2240733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0" y="1828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fuel for tonight's hackers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4688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Boom Pizza is sponsoring the pizzas for Hack-O-Lantern, so every team can build through the night on a full stomach. A huge thank you to the Boom Pizza team for backing student builders at Mirai School of Technology.</a:t>
            </a:r>
            <a:endParaRPr lang="en-US" sz="1500" dirty="0"/>
          </a:p>
        </p:txBody>
      </p:sp>
      <p:pic>
        <p:nvPicPr>
          <p:cNvPr id="8" name="Good food, big ideas banner" descr="Good food. Big ideas. Enjoy delicious pizzas courtesy of Boom Pizz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931920"/>
            <a:ext cx="4754880" cy="15076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CHALLENGE, REVEALED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tracks. Pick one curse</a:t>
            </a:r>
            <a:endParaRPr lang="en-US" sz="3400" dirty="0"/>
          </a:p>
        </p:txBody>
      </p:sp>
      <p:pic>
        <p:nvPicPr>
          <p:cNvPr id="4" name="Choose your curse" descr="Choose your cu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502920"/>
            <a:ext cx="2505075" cy="685800"/>
          </a:xfrm>
          <a:prstGeom prst="rect">
            <a:avLst/>
          </a:prstGeom>
        </p:spPr>
      </p:pic>
      <p:sp>
        <p:nvSpPr>
          <p:cNvPr id="5" name="Track 01 card"/>
          <p:cNvSpPr/>
          <p:nvPr/>
        </p:nvSpPr>
        <p:spPr>
          <a:xfrm>
            <a:off x="548640" y="1828800"/>
            <a:ext cx="2057400" cy="416052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6" name="Track 01 circle"/>
          <p:cNvSpPr/>
          <p:nvPr/>
        </p:nvSpPr>
        <p:spPr>
          <a:xfrm>
            <a:off x="822960" y="210312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" name="Track 01 icon" descr="Track 0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276856"/>
            <a:ext cx="521208" cy="5212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TRACK 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Witch's Potion Pantry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Smart inventory &amp; demand prediction</a:t>
            </a:r>
            <a:endParaRPr lang="en-US" sz="1300" dirty="0"/>
          </a:p>
        </p:txBody>
      </p:sp>
      <p:sp>
        <p:nvSpPr>
          <p:cNvPr id="11" name="Track 01 tag"/>
          <p:cNvSpPr/>
          <p:nvPr/>
        </p:nvSpPr>
        <p:spPr>
          <a:xfrm>
            <a:off x="822960" y="5413248"/>
            <a:ext cx="15087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54132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1st years only</a:t>
            </a:r>
            <a:endParaRPr lang="en-US" sz="1000" dirty="0"/>
          </a:p>
        </p:txBody>
      </p:sp>
      <p:sp>
        <p:nvSpPr>
          <p:cNvPr id="13" name="Track 02 card"/>
          <p:cNvSpPr/>
          <p:nvPr/>
        </p:nvSpPr>
        <p:spPr>
          <a:xfrm>
            <a:off x="2798064" y="1828800"/>
            <a:ext cx="2057400" cy="416052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4" name="Track 02 circle"/>
          <p:cNvSpPr/>
          <p:nvPr/>
        </p:nvSpPr>
        <p:spPr>
          <a:xfrm>
            <a:off x="3072384" y="210312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5" name="Track 02 icon" descr="Track 0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276856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2384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TRACK 02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072384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Midnight Phantom Hotline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072384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Hinglish voice agent under 800 ms</a:t>
            </a:r>
            <a:endParaRPr lang="en-US" sz="1300" dirty="0"/>
          </a:p>
        </p:txBody>
      </p:sp>
      <p:sp>
        <p:nvSpPr>
          <p:cNvPr id="19" name="Track 02 tag"/>
          <p:cNvSpPr/>
          <p:nvPr/>
        </p:nvSpPr>
        <p:spPr>
          <a:xfrm>
            <a:off x="3072384" y="5413248"/>
            <a:ext cx="15087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072384" y="54132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+ Systems</a:t>
            </a:r>
            <a:endParaRPr lang="en-US" sz="1000" dirty="0"/>
          </a:p>
        </p:txBody>
      </p:sp>
      <p:sp>
        <p:nvSpPr>
          <p:cNvPr id="21" name="Track 03 card"/>
          <p:cNvSpPr/>
          <p:nvPr/>
        </p:nvSpPr>
        <p:spPr>
          <a:xfrm>
            <a:off x="5047488" y="1828800"/>
            <a:ext cx="2057400" cy="416052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22" name="Track 03 circle"/>
          <p:cNvSpPr/>
          <p:nvPr/>
        </p:nvSpPr>
        <p:spPr>
          <a:xfrm>
            <a:off x="5321808" y="210312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3" name="Track 03 icon" descr="Track 0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544" y="2276856"/>
            <a:ext cx="521208" cy="5212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21808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TRACK 03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321808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Possessed Butler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5321808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Prompt-injection-proof AI agent</a:t>
            </a:r>
            <a:endParaRPr lang="en-US" sz="1300" dirty="0"/>
          </a:p>
        </p:txBody>
      </p:sp>
      <p:sp>
        <p:nvSpPr>
          <p:cNvPr id="27" name="Track 03 tag"/>
          <p:cNvSpPr/>
          <p:nvPr/>
        </p:nvSpPr>
        <p:spPr>
          <a:xfrm>
            <a:off x="5321808" y="5413248"/>
            <a:ext cx="15087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21808" y="54132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AI Security</a:t>
            </a:r>
            <a:endParaRPr lang="en-US" sz="1000" dirty="0"/>
          </a:p>
        </p:txBody>
      </p:sp>
      <p:sp>
        <p:nvSpPr>
          <p:cNvPr id="29" name="Track 04 card"/>
          <p:cNvSpPr/>
          <p:nvPr/>
        </p:nvSpPr>
        <p:spPr>
          <a:xfrm>
            <a:off x="7296912" y="1828800"/>
            <a:ext cx="2057400" cy="416052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30" name="Track 04 circle"/>
          <p:cNvSpPr/>
          <p:nvPr/>
        </p:nvSpPr>
        <p:spPr>
          <a:xfrm>
            <a:off x="7571232" y="210312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1" name="Track 04 icon" descr="Track 0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276856"/>
            <a:ext cx="521208" cy="52120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571232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TRACK 04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7571232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Midnight Crossroads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7571232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Indian traffic signal optimizer</a:t>
            </a:r>
            <a:endParaRPr lang="en-US" sz="1300" dirty="0"/>
          </a:p>
        </p:txBody>
      </p:sp>
      <p:sp>
        <p:nvSpPr>
          <p:cNvPr id="35" name="Track 04 tag"/>
          <p:cNvSpPr/>
          <p:nvPr/>
        </p:nvSpPr>
        <p:spPr>
          <a:xfrm>
            <a:off x="7571232" y="5413248"/>
            <a:ext cx="15087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571232" y="54132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CV + RL</a:t>
            </a:r>
            <a:endParaRPr lang="en-US" sz="1000" dirty="0"/>
          </a:p>
        </p:txBody>
      </p:sp>
      <p:sp>
        <p:nvSpPr>
          <p:cNvPr id="37" name="Track 05 card"/>
          <p:cNvSpPr/>
          <p:nvPr/>
        </p:nvSpPr>
        <p:spPr>
          <a:xfrm>
            <a:off x="9546336" y="1828800"/>
            <a:ext cx="2057400" cy="416052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38" name="Track 05 circle"/>
          <p:cNvSpPr/>
          <p:nvPr/>
        </p:nvSpPr>
        <p:spPr>
          <a:xfrm>
            <a:off x="9820656" y="210312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9" name="Track 05 icon" descr="Track 05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2276856"/>
            <a:ext cx="521208" cy="521208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820656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TRACK 05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9820656" y="3474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Coven of Five Hospitals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9820656" y="45720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Federated learning with privacy</a:t>
            </a:r>
            <a:endParaRPr lang="en-US" sz="1300" dirty="0"/>
          </a:p>
        </p:txBody>
      </p:sp>
      <p:sp>
        <p:nvSpPr>
          <p:cNvPr id="43" name="Track 05 tag"/>
          <p:cNvSpPr/>
          <p:nvPr/>
        </p:nvSpPr>
        <p:spPr>
          <a:xfrm>
            <a:off x="9820656" y="5413248"/>
            <a:ext cx="150876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9820656" y="54132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Privacy + 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01  ·  AI + FULL STACK + WEB + ANDROID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Witch's Potion Pantry</a:t>
            </a:r>
            <a:endParaRPr lang="en-US" sz="3400" dirty="0"/>
          </a:p>
        </p:txBody>
      </p:sp>
      <p:pic>
        <p:nvPicPr>
          <p:cNvPr id="4" name="1st years only" descr="1st years on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57200"/>
            <a:ext cx="1957067" cy="658368"/>
          </a:xfrm>
          <a:prstGeom prst="rect">
            <a:avLst/>
          </a:prstGeom>
        </p:spPr>
      </p:pic>
      <p:sp>
        <p:nvSpPr>
          <p:cNvPr id="5" name="Track 01 circle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Track 01 icon" descr="Track 0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865376"/>
            <a:ext cx="521208" cy="5212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Madam Hexley's potion shop runs out of bat wings and mandrake root every Halloween, and angry customers turn into frogs. Build her a smart pantry.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YOUR QUEST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2461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Track stock: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add, update and record what was sold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Prophecy: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predict which ingredients run out, and when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Restock spell: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recommend how much to reorder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Strange happenings: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flag unusual consumption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Crystal ball: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demand charts for every product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Web dashboard + Android app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on one shared backend</a:t>
            </a:r>
            <a:endParaRPr lang="en-US" sz="1600" dirty="0"/>
          </a:p>
        </p:txBody>
      </p:sp>
      <p:sp>
        <p:nvSpPr>
          <p:cNvPr id="10" name="Scored on card"/>
          <p:cNvSpPr/>
          <p:nvPr/>
        </p:nvSpPr>
        <p:spPr>
          <a:xfrm>
            <a:off x="7178040" y="1691640"/>
            <a:ext cx="43434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1" name="Scored on label" descr="Scored 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72768"/>
            <a:ext cx="1067889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52360" y="2103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accuracy on hidden future sales, planted anomalies caught, a working web + Android app, and UX.</a:t>
            </a:r>
            <a:endParaRPr lang="en-US" sz="1400" dirty="0"/>
          </a:p>
        </p:txBody>
      </p:sp>
      <p:sp>
        <p:nvSpPr>
          <p:cNvPr id="13" name="Why it is hard card"/>
          <p:cNvSpPr/>
          <p:nvPr/>
        </p:nvSpPr>
        <p:spPr>
          <a:xfrm>
            <a:off x="7178040" y="329184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452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YOUR DATA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452360" y="3721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Retail Store Inventory &amp; Demand Forecasting (Kaggle), re-skinned as potion ingredients.</a:t>
            </a:r>
            <a:endParaRPr lang="en-US" sz="1400" dirty="0"/>
          </a:p>
        </p:txBody>
      </p:sp>
      <p:sp>
        <p:nvSpPr>
          <p:cNvPr id="16" name="Midnight curse sealed card"/>
          <p:cNvSpPr/>
          <p:nvPr/>
        </p:nvSpPr>
        <p:spPr>
          <a:xfrm>
            <a:off x="7178040" y="480060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7" name="Midnight curse label" descr="The Midnight Cur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681728"/>
            <a:ext cx="1771650" cy="457200"/>
          </a:xfrm>
          <a:prstGeom prst="rect">
            <a:avLst/>
          </a:prstGeom>
        </p:spPr>
      </p:pic>
      <p:pic>
        <p:nvPicPr>
          <p:cNvPr id="18" name="Sealed lo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5303520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001000" y="51663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Sealed until 12:00 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twist to this track drops at midnight. Build to adapt.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02  ·  AI + SYSTEMS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Midnight Phantom Hotline</a:t>
            </a:r>
            <a:endParaRPr lang="en-US" sz="3400" dirty="0"/>
          </a:p>
        </p:txBody>
      </p:sp>
      <p:sp>
        <p:nvSpPr>
          <p:cNvPr id="4" name="Track 02 circle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Track 02 icon" descr="Track 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653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Ghosts keep calling the clinic and the haunted railway station in Hinglish, with chains rattling and a signal weaker than a dying candle.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YOUR QUEST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Book doctor appointments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or answer railway queries in code-mixed Hinglish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Handle interruptions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and background noise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Survive a 3G-level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connection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Reply within 800 ms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end to end</a:t>
            </a:r>
            <a:endParaRPr lang="en-US" sz="1600" dirty="0"/>
          </a:p>
        </p:txBody>
      </p:sp>
      <p:sp>
        <p:nvSpPr>
          <p:cNvPr id="9" name="Scored on card"/>
          <p:cNvSpPr/>
          <p:nvPr/>
        </p:nvSpPr>
        <p:spPr>
          <a:xfrm>
            <a:off x="7178040" y="1691640"/>
            <a:ext cx="43434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0" name="Scored on label" descr="Scored 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72768"/>
            <a:ext cx="1067889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2103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 completion rate on hidden test calls, and latency.</a:t>
            </a:r>
            <a:endParaRPr lang="en-US" sz="1400" dirty="0"/>
          </a:p>
        </p:txBody>
      </p:sp>
      <p:sp>
        <p:nvSpPr>
          <p:cNvPr id="12" name="Why it is hard card"/>
          <p:cNvSpPr/>
          <p:nvPr/>
        </p:nvSpPr>
        <p:spPr>
          <a:xfrm>
            <a:off x="7178040" y="329184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3" name="Why it is hard label" descr="Why it is h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172968"/>
            <a:ext cx="1313645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3721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Streaming speech-to-text, turn-taking and the latency budget pull against each other.</a:t>
            </a:r>
            <a:endParaRPr lang="en-US" sz="1400" dirty="0"/>
          </a:p>
        </p:txBody>
      </p:sp>
      <p:sp>
        <p:nvSpPr>
          <p:cNvPr id="15" name="Midnight curse sealed card"/>
          <p:cNvSpPr/>
          <p:nvPr/>
        </p:nvSpPr>
        <p:spPr>
          <a:xfrm>
            <a:off x="7178040" y="480060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6" name="Midnight curse label" descr="The Midnight Cur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681728"/>
            <a:ext cx="1771650" cy="457200"/>
          </a:xfrm>
          <a:prstGeom prst="rect">
            <a:avLst/>
          </a:prstGeom>
        </p:spPr>
      </p:pic>
      <p:pic>
        <p:nvPicPr>
          <p:cNvPr id="17" name="Sealed lo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530352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01000" y="51663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Sealed until 12:00 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twist to this track drops at midnight. Build to adapt.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03  ·  AI SECURITY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Possessed Butler</a:t>
            </a:r>
            <a:endParaRPr lang="en-US" sz="3400" dirty="0"/>
          </a:p>
        </p:txBody>
      </p:sp>
      <p:sp>
        <p:nvSpPr>
          <p:cNvPr id="4" name="Track 03 circle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Track 03 icon" descr="Track 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653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Count Byteula's AI butler reads letters, browses the cursed web and acts for his master. Dark spirits hide curses everywhere, waiting to possess him.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YOUR QUEST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Build an LLM agent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that reads email, browses web pages and takes actions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Defend it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against prompt injections hidden in emails, web pages and PDFs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Keep it useful: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refusing everything loses points</a:t>
            </a:r>
            <a:endParaRPr lang="en-US" sz="1600" dirty="0"/>
          </a:p>
        </p:txBody>
      </p:sp>
      <p:sp>
        <p:nvSpPr>
          <p:cNvPr id="9" name="Scored on card"/>
          <p:cNvSpPr/>
          <p:nvPr/>
        </p:nvSpPr>
        <p:spPr>
          <a:xfrm>
            <a:off x="7178040" y="1691640"/>
            <a:ext cx="43434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0" name="Scored on label" descr="Scored 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72768"/>
            <a:ext cx="1067889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2103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 completed minus successful possessions.</a:t>
            </a:r>
            <a:endParaRPr lang="en-US" sz="1400" dirty="0"/>
          </a:p>
        </p:txBody>
      </p:sp>
      <p:sp>
        <p:nvSpPr>
          <p:cNvPr id="12" name="Why it is hard card"/>
          <p:cNvSpPr/>
          <p:nvPr/>
        </p:nvSpPr>
        <p:spPr>
          <a:xfrm>
            <a:off x="7178040" y="329184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3" name="Why it is hard label" descr="Why it is h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172968"/>
            <a:ext cx="1313645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3721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There is no single known fix, so you must design an architecture, not apply a patch.</a:t>
            </a:r>
            <a:endParaRPr lang="en-US" sz="1400" dirty="0"/>
          </a:p>
        </p:txBody>
      </p:sp>
      <p:sp>
        <p:nvSpPr>
          <p:cNvPr id="15" name="Midnight curse sealed card"/>
          <p:cNvSpPr/>
          <p:nvPr/>
        </p:nvSpPr>
        <p:spPr>
          <a:xfrm>
            <a:off x="7178040" y="480060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6" name="Midnight curse label" descr="The Midnight Cur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681728"/>
            <a:ext cx="1771650" cy="457200"/>
          </a:xfrm>
          <a:prstGeom prst="rect">
            <a:avLst/>
          </a:prstGeom>
        </p:spPr>
      </p:pic>
      <p:pic>
        <p:nvPicPr>
          <p:cNvPr id="17" name="Sealed lo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530352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01000" y="51663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Sealed until 12:00 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twist to this track drops at midnight. Build to adapt.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04  ·  COMPUTER VISION + REINFORCEMENT LEARNING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Midnight Crossroads</a:t>
            </a:r>
            <a:endParaRPr lang="en-US" sz="3400" dirty="0"/>
          </a:p>
        </p:txBody>
      </p:sp>
      <p:sp>
        <p:nvSpPr>
          <p:cNvPr id="4" name="Track 04 circle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Track 04 icon" descr="Track 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653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Autos, bikes, buses, cattle and the odd zombie crawl through the cursed crossroads with no lane discipline. Free the souls stuck at red lights.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YOUR QUEST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The All-Seeing Eye: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count queued vehicles per approach from CCTV-style video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The Signal Spell: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control the lights in the SUMO simulator to cut average wait time</a:t>
            </a:r>
            <a:endParaRPr lang="en-US" sz="1600" dirty="0"/>
          </a:p>
        </p:txBody>
      </p:sp>
      <p:sp>
        <p:nvSpPr>
          <p:cNvPr id="9" name="Scored on card"/>
          <p:cNvSpPr/>
          <p:nvPr/>
        </p:nvSpPr>
        <p:spPr>
          <a:xfrm>
            <a:off x="7178040" y="1691640"/>
            <a:ext cx="43434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0" name="Scored on label" descr="Scored 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72768"/>
            <a:ext cx="1067889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2103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Reduction in average wait time on unseen junction scenarios.</a:t>
            </a:r>
            <a:endParaRPr lang="en-US" sz="1400" dirty="0"/>
          </a:p>
        </p:txBody>
      </p:sp>
      <p:sp>
        <p:nvSpPr>
          <p:cNvPr id="12" name="Why it is hard card"/>
          <p:cNvSpPr/>
          <p:nvPr/>
        </p:nvSpPr>
        <p:spPr>
          <a:xfrm>
            <a:off x="7178040" y="329184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3" name="Why it is hard label" descr="Why it is h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172968"/>
            <a:ext cx="1313645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3721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Real-world vision feeds a control loop, and test junctions differ from training.</a:t>
            </a:r>
            <a:endParaRPr lang="en-US" sz="1400" dirty="0"/>
          </a:p>
        </p:txBody>
      </p:sp>
      <p:sp>
        <p:nvSpPr>
          <p:cNvPr id="15" name="Midnight curse sealed card"/>
          <p:cNvSpPr/>
          <p:nvPr/>
        </p:nvSpPr>
        <p:spPr>
          <a:xfrm>
            <a:off x="7178040" y="480060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6" name="Midnight curse label" descr="The Midnight Cur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681728"/>
            <a:ext cx="1771650" cy="457200"/>
          </a:xfrm>
          <a:prstGeom prst="rect">
            <a:avLst/>
          </a:prstGeom>
        </p:spPr>
      </p:pic>
      <p:pic>
        <p:nvPicPr>
          <p:cNvPr id="17" name="Sealed lo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530352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01000" y="51663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Sealed until 12:00 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twist to this track drops at midnight. Build to adapt.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05  ·  PRIVACY + MACHINE LEARNING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Coven of Five Hospitals</a:t>
            </a:r>
            <a:endParaRPr lang="en-US" sz="3400" dirty="0"/>
          </a:p>
        </p:txBody>
      </p:sp>
      <p:sp>
        <p:nvSpPr>
          <p:cNvPr id="4" name="Track 05 circle"/>
          <p:cNvSpPr/>
          <p:nvPr/>
        </p:nvSpPr>
        <p:spPr>
          <a:xfrm>
            <a:off x="548640" y="1691640"/>
            <a:ext cx="868680" cy="8686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Track 05 icon" descr="Track 0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653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haunted hospitals must diagnose a plague together, but their oath forbids sharing records. The Soul Thief lurks, hunting whose records trained the model.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YOUR QUEST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6217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Train across 5 hospitals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with differently skewed data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Federated learning: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no raw data leaves a hospital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Stay within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differential-privacy budget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Survive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membership-inference attacks</a:t>
            </a:r>
            <a:endParaRPr lang="en-US" sz="1600" dirty="0"/>
          </a:p>
        </p:txBody>
      </p:sp>
      <p:sp>
        <p:nvSpPr>
          <p:cNvPr id="9" name="Scored on card"/>
          <p:cNvSpPr/>
          <p:nvPr/>
        </p:nvSpPr>
        <p:spPr>
          <a:xfrm>
            <a:off x="7178040" y="1691640"/>
            <a:ext cx="43434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0" name="Scored on label" descr="Scored 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72768"/>
            <a:ext cx="1067889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2103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accuracy, how much the attacks reveal, and communication cost.</a:t>
            </a:r>
            <a:endParaRPr lang="en-US" sz="1400" dirty="0"/>
          </a:p>
        </p:txBody>
      </p:sp>
      <p:sp>
        <p:nvSpPr>
          <p:cNvPr id="12" name="Why it is hard card"/>
          <p:cNvSpPr/>
          <p:nvPr/>
        </p:nvSpPr>
        <p:spPr>
          <a:xfrm>
            <a:off x="7178040" y="329184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3" name="Why it is hard label" descr="Why it is h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172968"/>
            <a:ext cx="1313645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0" y="37216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Privacy noise, skewed hospitals and attack resistance all cost accuracy.</a:t>
            </a:r>
            <a:endParaRPr lang="en-US" sz="1400" dirty="0"/>
          </a:p>
        </p:txBody>
      </p:sp>
      <p:sp>
        <p:nvSpPr>
          <p:cNvPr id="15" name="Midnight curse sealed card"/>
          <p:cNvSpPr/>
          <p:nvPr/>
        </p:nvSpPr>
        <p:spPr>
          <a:xfrm>
            <a:off x="7178040" y="4800600"/>
            <a:ext cx="4343400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6" name="Midnight curse label" descr="The Midnight Cur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681728"/>
            <a:ext cx="1771650" cy="457200"/>
          </a:xfrm>
          <a:prstGeom prst="rect">
            <a:avLst/>
          </a:prstGeom>
        </p:spPr>
      </p:pic>
      <p:pic>
        <p:nvPicPr>
          <p:cNvPr id="17" name="Sealed lock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48" y="530352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01000" y="51663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Sealed until 12:00 AM.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 twist to this track drops at midnight. Build to adapt.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OF THE DAMNED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dusk till the Grand Séance</a:t>
            </a:r>
            <a:endParaRPr lang="en-US" sz="3400" dirty="0"/>
          </a:p>
        </p:txBody>
      </p:sp>
      <p:sp>
        <p:nvSpPr>
          <p:cNvPr id="4" name="Timeline row 1"/>
          <p:cNvSpPr/>
          <p:nvPr/>
        </p:nvSpPr>
        <p:spPr>
          <a:xfrm>
            <a:off x="868680" y="2304288"/>
            <a:ext cx="10332720" cy="0"/>
          </a:xfrm>
          <a:prstGeom prst="line">
            <a:avLst/>
          </a:prstGeom>
          <a:noFill/>
          <a:ln w="19050">
            <a:solidFill>
              <a:srgbClr val="D8CBB2"/>
            </a:solidFill>
            <a:prstDash val="dash"/>
          </a:ln>
        </p:spPr>
      </p:sp>
      <p:sp>
        <p:nvSpPr>
          <p:cNvPr id="5" name="Opening ceremony marker"/>
          <p:cNvSpPr/>
          <p:nvPr/>
        </p:nvSpPr>
        <p:spPr>
          <a:xfrm>
            <a:off x="713232" y="214884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7:00 PM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Opening ceremony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Challenge reveal, check-in, costumes</a:t>
            </a:r>
            <a:endParaRPr lang="en-US" sz="1400" dirty="0"/>
          </a:p>
        </p:txBody>
      </p:sp>
      <p:sp>
        <p:nvSpPr>
          <p:cNvPr id="8" name="The Midnight Curse marker"/>
          <p:cNvSpPr/>
          <p:nvPr/>
        </p:nvSpPr>
        <p:spPr>
          <a:xfrm>
            <a:off x="2926080" y="2148840"/>
            <a:ext cx="310896" cy="3108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1488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12:00 AM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304495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Midnight Curse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track gets its twist</a:t>
            </a:r>
            <a:endParaRPr lang="en-US" sz="1400" dirty="0"/>
          </a:p>
        </p:txBody>
      </p:sp>
      <p:sp>
        <p:nvSpPr>
          <p:cNvPr id="11" name="Round 1 marker"/>
          <p:cNvSpPr/>
          <p:nvPr/>
        </p:nvSpPr>
        <p:spPr>
          <a:xfrm>
            <a:off x="5138928" y="21488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74336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1:00 AM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974336" y="304495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Round 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First Haunting</a:t>
            </a:r>
            <a:endParaRPr lang="en-US" sz="1400" dirty="0"/>
          </a:p>
        </p:txBody>
      </p:sp>
      <p:sp>
        <p:nvSpPr>
          <p:cNvPr id="14" name="Witching-hour break marker"/>
          <p:cNvSpPr/>
          <p:nvPr/>
        </p:nvSpPr>
        <p:spPr>
          <a:xfrm>
            <a:off x="7351776" y="214884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87184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3:00 AM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187184" y="304495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Witching-hour break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Pizza courtesy of Boom Pizza</a:t>
            </a:r>
            <a:endParaRPr lang="en-US" sz="1400" dirty="0"/>
          </a:p>
        </p:txBody>
      </p:sp>
      <p:sp>
        <p:nvSpPr>
          <p:cNvPr id="17" name="Round 2 marker"/>
          <p:cNvSpPr/>
          <p:nvPr/>
        </p:nvSpPr>
        <p:spPr>
          <a:xfrm>
            <a:off x="9564624" y="214884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00032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4:00 AM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400032" y="304495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Round 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Witching Hour Trial</a:t>
            </a:r>
            <a:endParaRPr lang="en-US" sz="1400" dirty="0"/>
          </a:p>
        </p:txBody>
      </p:sp>
      <p:sp>
        <p:nvSpPr>
          <p:cNvPr id="20" name="Timeline row 2"/>
          <p:cNvSpPr/>
          <p:nvPr/>
        </p:nvSpPr>
        <p:spPr>
          <a:xfrm>
            <a:off x="868680" y="4498848"/>
            <a:ext cx="10332720" cy="0"/>
          </a:xfrm>
          <a:prstGeom prst="line">
            <a:avLst/>
          </a:prstGeom>
          <a:noFill/>
          <a:ln w="19050">
            <a:solidFill>
              <a:srgbClr val="D8CBB2"/>
            </a:solidFill>
            <a:prstDash val="dash"/>
          </a:ln>
        </p:spPr>
      </p:sp>
      <p:sp>
        <p:nvSpPr>
          <p:cNvPr id="21" name="Code freeze marker"/>
          <p:cNvSpPr/>
          <p:nvPr/>
        </p:nvSpPr>
        <p:spPr>
          <a:xfrm>
            <a:off x="713232" y="4343400"/>
            <a:ext cx="310896" cy="3108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6:45 AM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23951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 freeze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graves are sealed</a:t>
            </a:r>
            <a:endParaRPr lang="en-US" sz="1400" dirty="0"/>
          </a:p>
        </p:txBody>
      </p:sp>
      <p:sp>
        <p:nvSpPr>
          <p:cNvPr id="24" name="Round 3 marker"/>
          <p:cNvSpPr/>
          <p:nvPr/>
        </p:nvSpPr>
        <p:spPr>
          <a:xfrm>
            <a:off x="2926080" y="43434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61488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7:00 AM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761488" y="523951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Round 3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Graveyard Cut: top 10 chosen</a:t>
            </a:r>
            <a:endParaRPr lang="en-US" sz="1400" dirty="0"/>
          </a:p>
        </p:txBody>
      </p:sp>
      <p:sp>
        <p:nvSpPr>
          <p:cNvPr id="27" name="Top 10 announced marker"/>
          <p:cNvSpPr/>
          <p:nvPr/>
        </p:nvSpPr>
        <p:spPr>
          <a:xfrm>
            <a:off x="5138928" y="434340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74336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~8:30 AM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974336" y="523951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10 announced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survivors are named</a:t>
            </a:r>
            <a:endParaRPr lang="en-US" sz="1400" dirty="0"/>
          </a:p>
        </p:txBody>
      </p:sp>
      <p:sp>
        <p:nvSpPr>
          <p:cNvPr id="30" name="Final marker"/>
          <p:cNvSpPr/>
          <p:nvPr/>
        </p:nvSpPr>
        <p:spPr>
          <a:xfrm>
            <a:off x="7351776" y="4343400"/>
            <a:ext cx="310896" cy="310896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87184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9:30 AM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87184" y="523951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Grand Séance: top 10 present</a:t>
            </a:r>
            <a:endParaRPr lang="en-US" sz="1400" dirty="0"/>
          </a:p>
        </p:txBody>
      </p:sp>
      <p:sp>
        <p:nvSpPr>
          <p:cNvPr id="33" name="Awards ceremony marker"/>
          <p:cNvSpPr/>
          <p:nvPr/>
        </p:nvSpPr>
        <p:spPr>
          <a:xfrm>
            <a:off x="9564624" y="4343400"/>
            <a:ext cx="310896" cy="31089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00032" y="4800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~11:30 AM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400032" y="5239512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Awards ceremony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night ends</a:t>
            </a:r>
            <a:endParaRPr lang="en-US" sz="1400" dirty="0"/>
          </a:p>
        </p:txBody>
      </p:sp>
      <p:sp>
        <p:nvSpPr>
          <p:cNvPr id="36" name="Legend eval"/>
          <p:cNvSpPr/>
          <p:nvPr/>
        </p:nvSpPr>
        <p:spPr>
          <a:xfrm>
            <a:off x="548640" y="594360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Evaluation round</a:t>
            </a:r>
            <a:endParaRPr lang="en-US" sz="1100" dirty="0"/>
          </a:p>
        </p:txBody>
      </p:sp>
      <p:sp>
        <p:nvSpPr>
          <p:cNvPr id="38" name="Legend milestone"/>
          <p:cNvSpPr/>
          <p:nvPr/>
        </p:nvSpPr>
        <p:spPr>
          <a:xfrm>
            <a:off x="2514600" y="5943600"/>
            <a:ext cx="182880" cy="1828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70632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Twist or deadline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JUDGEMENT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rounds, one cut, one séance</a:t>
            </a:r>
            <a:endParaRPr lang="en-US" sz="3400" dirty="0"/>
          </a:p>
        </p:txBody>
      </p:sp>
      <p:sp>
        <p:nvSpPr>
          <p:cNvPr id="4" name="The First Haunting card"/>
          <p:cNvSpPr/>
          <p:nvPr/>
        </p:nvSpPr>
        <p:spPr>
          <a:xfrm>
            <a:off x="548640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5" name="The First Haunt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1:00 AM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First Haunting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01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NO ELIMINATION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Architecture and the basic flow working end to end.</a:t>
            </a:r>
            <a:endParaRPr lang="en-US" sz="1300" dirty="0"/>
          </a:p>
        </p:txBody>
      </p:sp>
      <p:sp>
        <p:nvSpPr>
          <p:cNvPr id="10" name="The Witching Hour Trial card"/>
          <p:cNvSpPr/>
          <p:nvPr/>
        </p:nvSpPr>
        <p:spPr>
          <a:xfrm>
            <a:off x="3346704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1" name="The Witching Hour Tri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0116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06824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4:00 AM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621024" y="2697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Witching Hour Trial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21024" y="3401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NO ELIMINATION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621024" y="3703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Core metrics on public test data, and progress on the curse. Live leaderboard after.</a:t>
            </a:r>
            <a:endParaRPr lang="en-US" sz="1300" dirty="0"/>
          </a:p>
        </p:txBody>
      </p:sp>
      <p:sp>
        <p:nvSpPr>
          <p:cNvPr id="16" name="The Graveyard Cut card"/>
          <p:cNvSpPr/>
          <p:nvPr/>
        </p:nvSpPr>
        <p:spPr>
          <a:xfrm>
            <a:off x="6144768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7" name="The Graveyard Cu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0116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04888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7:00 AM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419088" y="2697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Graveyard Cut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9088" y="3401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ELIMINATION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19088" y="3703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Hidden test sets, live attacks and curse handling. Top 10 advance.</a:t>
            </a:r>
            <a:endParaRPr lang="en-US" sz="1300" dirty="0"/>
          </a:p>
        </p:txBody>
      </p:sp>
      <p:sp>
        <p:nvSpPr>
          <p:cNvPr id="22" name="The Grand Séance card"/>
          <p:cNvSpPr/>
          <p:nvPr/>
        </p:nvSpPr>
        <p:spPr>
          <a:xfrm>
            <a:off x="8942832" y="17373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3" name="The Grand Séanc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201168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902952" y="2011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9:30 AM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9217152" y="26974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Grand Séance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17152" y="34015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TOP 10 ONLY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217152" y="37033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 min presentation and live demo, then 4 min judge Q&amp;A.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SCORE WEIGHTS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5166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15%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Round 1</a:t>
            </a:r>
            <a:endParaRPr lang="en-US" sz="3600" dirty="0"/>
          </a:p>
        </p:txBody>
      </p:sp>
      <p:sp>
        <p:nvSpPr>
          <p:cNvPr id="30" name="Text 24"/>
          <p:cNvSpPr txBox="1"/>
          <p:nvPr/>
        </p:nvSpPr>
        <p:spPr>
          <a:xfrm>
            <a:off x="2286000" y="5166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25%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Round 2</a:t>
            </a:r>
            <a:endParaRPr lang="en-US" sz="3600" dirty="0"/>
          </a:p>
        </p:txBody>
      </p:sp>
      <p:sp>
        <p:nvSpPr>
          <p:cNvPr id="31" name="Text 25"/>
          <p:cNvSpPr txBox="1"/>
          <p:nvPr/>
        </p:nvSpPr>
        <p:spPr>
          <a:xfrm>
            <a:off x="4023360" y="5166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60%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Round 3</a:t>
            </a:r>
            <a:endParaRPr lang="en-US" sz="3600" dirty="0"/>
          </a:p>
        </p:txBody>
      </p:sp>
      <p:pic>
        <p:nvPicPr>
          <p:cNvPr id="32" name="Only 10 teams survive till dawn" descr="Only 10 teams survive till daw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5120640"/>
            <a:ext cx="5486400" cy="95471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· 1:00 AM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judges want to see first</a:t>
            </a:r>
            <a:endParaRPr lang="en-US" sz="3400" dirty="0"/>
          </a:p>
        </p:txBody>
      </p:sp>
      <p:sp>
        <p:nvSpPr>
          <p:cNvPr id="4" name="Potion Pantry row"/>
          <p:cNvSpPr/>
          <p:nvPr/>
        </p:nvSpPr>
        <p:spPr>
          <a:xfrm>
            <a:off x="548640" y="1783080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5" name="Potion Pantr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11096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830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Potion Pantry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78308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Database and CRUD working; web and Android app connected to the backend</a:t>
            </a:r>
            <a:endParaRPr lang="en-US" sz="1500" dirty="0"/>
          </a:p>
        </p:txBody>
      </p:sp>
      <p:sp>
        <p:nvSpPr>
          <p:cNvPr id="8" name="Phantom Hotline row"/>
          <p:cNvSpPr/>
          <p:nvPr/>
        </p:nvSpPr>
        <p:spPr>
          <a:xfrm>
            <a:off x="548640" y="2633472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9" name="Phantom Hotlin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614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6334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Phantom Hotline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263347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End-to-end voice pipeline answers at least one query</a:t>
            </a:r>
            <a:endParaRPr lang="en-US" sz="1500" dirty="0"/>
          </a:p>
        </p:txBody>
      </p:sp>
      <p:sp>
        <p:nvSpPr>
          <p:cNvPr id="12" name="Possessed Butler row"/>
          <p:cNvSpPr/>
          <p:nvPr/>
        </p:nvSpPr>
        <p:spPr>
          <a:xfrm>
            <a:off x="548640" y="3483864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3" name="Possessed Butler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11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4838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Possessed Butler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348386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Agent completes basic email, browsing and file tasks</a:t>
            </a:r>
            <a:endParaRPr lang="en-US" sz="1500" dirty="0"/>
          </a:p>
        </p:txBody>
      </p:sp>
      <p:sp>
        <p:nvSpPr>
          <p:cNvPr id="16" name="Midnight Crossroads row"/>
          <p:cNvSpPr/>
          <p:nvPr/>
        </p:nvSpPr>
        <p:spPr>
          <a:xfrm>
            <a:off x="548640" y="4334256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7" name="Midnight Crossroad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622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433425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Midnight Crossroads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4334256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Vehicle detection running on the sample video</a:t>
            </a:r>
            <a:endParaRPr lang="en-US" sz="1500" dirty="0"/>
          </a:p>
        </p:txBody>
      </p:sp>
      <p:sp>
        <p:nvSpPr>
          <p:cNvPr id="20" name="Coven of Hospitals row"/>
          <p:cNvSpPr/>
          <p:nvPr/>
        </p:nvSpPr>
        <p:spPr>
          <a:xfrm>
            <a:off x="548640" y="5184648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21" name="Coven of Hospital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12664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51846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Coven of Hospitals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0" y="518464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Federated training loop running across all 5 hospitals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Round 1 has no elimination. It is your chance to get early feedback.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COVEN'S LAWS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 of the night</a:t>
            </a:r>
            <a:endParaRPr lang="en-US" sz="3400" dirty="0"/>
          </a:p>
        </p:txBody>
      </p:sp>
      <p:sp>
        <p:nvSpPr>
          <p:cNvPr id="4" name="Rule 1"/>
          <p:cNvSpPr/>
          <p:nvPr/>
        </p:nvSpPr>
        <p:spPr>
          <a:xfrm>
            <a:off x="548640" y="178308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9202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Teams of 3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All code is written tonight. Open-source libraries, pretrained models and public APIs are allowed; list them in your README.</a:t>
            </a:r>
            <a:endParaRPr lang="en-US" sz="1600" dirty="0"/>
          </a:p>
        </p:txBody>
      </p:sp>
      <p:sp>
        <p:nvSpPr>
          <p:cNvPr id="7" name="Rule 2"/>
          <p:cNvSpPr/>
          <p:nvPr/>
        </p:nvSpPr>
        <p:spPr>
          <a:xfrm>
            <a:off x="6126480" y="178308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965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9202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Hidden tests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You get sample data now. Final scores use hidden test sets no team sees in advance.</a:t>
            </a:r>
            <a:endParaRPr lang="en-US" sz="1600" dirty="0"/>
          </a:p>
        </p:txBody>
      </p:sp>
      <p:sp>
        <p:nvSpPr>
          <p:cNvPr id="10" name="Rule 3"/>
          <p:cNvSpPr/>
          <p:nvPr/>
        </p:nvSpPr>
        <p:spPr>
          <a:xfrm>
            <a:off x="548640" y="324612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29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3832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The curse counts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The Midnight Curse drops at 12:00 AM and is scored in Rounds 2 and 3.</a:t>
            </a:r>
            <a:endParaRPr lang="en-US" sz="1600" dirty="0"/>
          </a:p>
        </p:txBody>
      </p:sp>
      <p:sp>
        <p:nvSpPr>
          <p:cNvPr id="13" name="Rule 4"/>
          <p:cNvSpPr/>
          <p:nvPr/>
        </p:nvSpPr>
        <p:spPr>
          <a:xfrm>
            <a:off x="6126480" y="324612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429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3832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Show up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Be at your table with a working build for every round. A missed round scores zero.</a:t>
            </a:r>
            <a:endParaRPr lang="en-US" sz="1600" dirty="0"/>
          </a:p>
        </p:txBody>
      </p:sp>
      <p:sp>
        <p:nvSpPr>
          <p:cNvPr id="16" name="Rule 5"/>
          <p:cNvSpPr/>
          <p:nvPr/>
        </p:nvSpPr>
        <p:spPr>
          <a:xfrm>
            <a:off x="548640" y="470916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92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846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Code freeze 6:45 AM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Only your last commit before the freeze is judged.</a:t>
            </a:r>
            <a:endParaRPr lang="en-US" sz="1600" dirty="0"/>
          </a:p>
        </p:txBody>
      </p:sp>
      <p:sp>
        <p:nvSpPr>
          <p:cNvPr id="19" name="Rule 6"/>
          <p:cNvSpPr/>
          <p:nvPr/>
        </p:nvSpPr>
        <p:spPr>
          <a:xfrm>
            <a:off x="6126480" y="470916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892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846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Fair play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Attacking other teams is allowed only in the official Track 3 Possession Round. The judges' decision is final.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Awards of the night</a:t>
            </a:r>
            <a:endParaRPr lang="en-US" sz="3400" dirty="0"/>
          </a:p>
        </p:txBody>
      </p:sp>
      <p:sp>
        <p:nvSpPr>
          <p:cNvPr id="4" name="Prize pool card"/>
          <p:cNvSpPr/>
          <p:nvPr/>
        </p:nvSpPr>
        <p:spPr>
          <a:xfrm>
            <a:off x="548640" y="1737360"/>
            <a:ext cx="3657600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5" name="Troph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PRIZE POOL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₹9,000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Split across the awards, announced at the ceremony.</a:t>
            </a:r>
            <a:endParaRPr lang="en-US" sz="1300" dirty="0"/>
          </a:p>
        </p:txBody>
      </p:sp>
      <p:sp>
        <p:nvSpPr>
          <p:cNvPr id="9" name="Grand Sorcerer card"/>
          <p:cNvSpPr/>
          <p:nvPr/>
        </p:nvSpPr>
        <p:spPr>
          <a:xfrm>
            <a:off x="4526280" y="1737360"/>
            <a:ext cx="33375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0" name="Grand Sorcerer circle"/>
          <p:cNvSpPr/>
          <p:nvPr/>
        </p:nvSpPr>
        <p:spPr>
          <a:xfrm>
            <a:off x="4727448" y="201168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1" name="Grand Sorcerer icon" descr="Grand Sorcer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1579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Grand Sorcerer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Overall winner</a:t>
            </a:r>
            <a:endParaRPr lang="en-US" sz="1600" dirty="0"/>
          </a:p>
        </p:txBody>
      </p:sp>
      <p:sp>
        <p:nvSpPr>
          <p:cNvPr id="13" name="Rising Witch card"/>
          <p:cNvSpPr/>
          <p:nvPr/>
        </p:nvSpPr>
        <p:spPr>
          <a:xfrm>
            <a:off x="8046720" y="1737360"/>
            <a:ext cx="33375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4" name="Rising Witch circle"/>
          <p:cNvSpPr/>
          <p:nvPr/>
        </p:nvSpPr>
        <p:spPr>
          <a:xfrm>
            <a:off x="8247888" y="201168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5" name="Rising Witch icon" descr="Rising Wit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15798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Rising Witch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Best first-year team</a:t>
            </a:r>
            <a:endParaRPr lang="en-US" sz="1600" dirty="0"/>
          </a:p>
        </p:txBody>
      </p:sp>
      <p:sp>
        <p:nvSpPr>
          <p:cNvPr id="17" name="Exorcist card"/>
          <p:cNvSpPr/>
          <p:nvPr/>
        </p:nvSpPr>
        <p:spPr>
          <a:xfrm>
            <a:off x="4526280" y="3200400"/>
            <a:ext cx="33375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18" name="Exorcist circle"/>
          <p:cNvSpPr/>
          <p:nvPr/>
        </p:nvSpPr>
        <p:spPr>
          <a:xfrm>
            <a:off x="4727448" y="347472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9" name="Exorcist icon" descr="Exorci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621024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23560" y="3337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Exorcist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Best defence in the Possession Round</a:t>
            </a:r>
            <a:endParaRPr lang="en-US" sz="1600" dirty="0"/>
          </a:p>
        </p:txBody>
      </p:sp>
      <p:sp>
        <p:nvSpPr>
          <p:cNvPr id="21" name="Speed Demon card"/>
          <p:cNvSpPr/>
          <p:nvPr/>
        </p:nvSpPr>
        <p:spPr>
          <a:xfrm>
            <a:off x="8046720" y="3200400"/>
            <a:ext cx="33375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22" name="Speed Demon circle"/>
          <p:cNvSpPr/>
          <p:nvPr/>
        </p:nvSpPr>
        <p:spPr>
          <a:xfrm>
            <a:off x="8247888" y="347472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3" name="Speed Demon icon" descr="Speed Dem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3621024"/>
            <a:ext cx="438912" cy="4389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0" y="33375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Speed Demon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Lowest latency on the Phantom Hotline</a:t>
            </a:r>
            <a:endParaRPr lang="en-US" sz="1600" dirty="0"/>
          </a:p>
        </p:txBody>
      </p:sp>
      <p:sp>
        <p:nvSpPr>
          <p:cNvPr id="25" name="Necromancer card"/>
          <p:cNvSpPr/>
          <p:nvPr/>
        </p:nvSpPr>
        <p:spPr>
          <a:xfrm>
            <a:off x="4526280" y="4663440"/>
            <a:ext cx="33375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26" name="Necromancer circle"/>
          <p:cNvSpPr/>
          <p:nvPr/>
        </p:nvSpPr>
        <p:spPr>
          <a:xfrm>
            <a:off x="4727448" y="493776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7" name="Necromancer icon" descr="Necromanc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084064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23560" y="4800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Necromancer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Best comeback after the Midnight Curse</a:t>
            </a:r>
            <a:endParaRPr lang="en-US" sz="1600" dirty="0"/>
          </a:p>
        </p:txBody>
      </p:sp>
      <p:sp>
        <p:nvSpPr>
          <p:cNvPr id="29" name="Best Costume card"/>
          <p:cNvSpPr/>
          <p:nvPr/>
        </p:nvSpPr>
        <p:spPr>
          <a:xfrm>
            <a:off x="8046720" y="4663440"/>
            <a:ext cx="333756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sp>
        <p:nvSpPr>
          <p:cNvPr id="30" name="Best Costume circle"/>
          <p:cNvSpPr/>
          <p:nvPr/>
        </p:nvSpPr>
        <p:spPr>
          <a:xfrm>
            <a:off x="8247888" y="4937760"/>
            <a:ext cx="731520" cy="73152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1" name="Best Costume icon" descr="Best Costum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5084064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144000" y="4800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Best Costume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Voted at the opening ceremony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lloween moon illustration" descr="Orange moon, black cat, castle and jack-o-lan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1434" y="868680"/>
            <a:ext cx="3730261" cy="5989320"/>
          </a:xfrm>
          <a:prstGeom prst="rect">
            <a:avLst/>
          </a:prstGeom>
        </p:spPr>
      </p:pic>
      <p:pic>
        <p:nvPicPr>
          <p:cNvPr id="3" name="Vulcan Club logo" descr="Vulcan Club, Mirai School of Technolog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377440" cy="1439944"/>
          </a:xfrm>
          <a:prstGeom prst="rect">
            <a:avLst/>
          </a:prstGeom>
        </p:spPr>
      </p:pic>
      <p:pic>
        <p:nvPicPr>
          <p:cNvPr id="4" name="Build through the night, ship before sunrise" descr="Build through the night. Ship before sunrise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6949440" cy="2185133"/>
          </a:xfrm>
          <a:prstGeom prst="rect">
            <a:avLst/>
          </a:prstGeom>
        </p:spPr>
      </p:pic>
      <p:pic>
        <p:nvPicPr>
          <p:cNvPr id="5" name="Happy hacking, humans" descr="Happy hacking, humans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343400"/>
            <a:ext cx="2871592" cy="640080"/>
          </a:xfrm>
          <a:prstGeom prst="rect">
            <a:avLst/>
          </a:prstGeom>
        </p:spPr>
      </p:pic>
      <p:pic>
        <p:nvPicPr>
          <p:cNvPr id="6" name="Phon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257800"/>
            <a:ext cx="274320" cy="27432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91440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7993521335</a:t>
            </a:r>
            <a:endParaRPr lang="en-US" sz="1400" dirty="0"/>
          </a:p>
        </p:txBody>
      </p:sp>
      <p:pic>
        <p:nvPicPr>
          <p:cNvPr id="8" name="Mail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5257800"/>
            <a:ext cx="274320" cy="274320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365760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vulcan.techclub@gmail.com</a:t>
            </a:r>
            <a:endParaRPr lang="en-US" sz="1400" dirty="0"/>
          </a:p>
        </p:txBody>
      </p:sp>
      <p:pic>
        <p:nvPicPr>
          <p:cNvPr id="10" name="Addres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760720"/>
            <a:ext cx="274320" cy="274320"/>
          </a:xfrm>
          <a:prstGeom prst="rect">
            <a:avLst/>
          </a:prstGeom>
        </p:spPr>
      </p:pic>
      <p:sp>
        <p:nvSpPr>
          <p:cNvPr id="11" name="Text 2"/>
          <p:cNvSpPr txBox="1"/>
          <p:nvPr/>
        </p:nvSpPr>
        <p:spPr>
          <a:xfrm>
            <a:off x="914400" y="5669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Survey No. 137, South, Doddakammanahalli, Phase 2, Begur Hobli, Bengaluru, Karnataka 560083</a:t>
            </a:r>
            <a:endParaRPr lang="en-US" sz="1200" dirty="0"/>
          </a:p>
        </p:txBody>
      </p:sp>
      <p:pic>
        <p:nvPicPr>
          <p:cNvPr id="12" name="Powered by Boom Pizza" descr="Powered by Boom Pizza, sponsoring the pizzas for the hackath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274320"/>
            <a:ext cx="3291840" cy="18345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54864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AT 12:00 AM ONLY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4" type="title" hasCustomPrompt="1"/>
          </p:nvPr>
        </p:nvSpPr>
        <p:spPr>
          <a:xfrm>
            <a:off x="54864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Midnight Curse has fallen</a:t>
            </a:r>
            <a:endParaRPr lang="en-US" sz="3400" dirty="0"/>
          </a:p>
        </p:txBody>
      </p:sp>
      <p:pic>
        <p:nvPicPr>
          <p:cNvPr id="4" name="The midnight curse" descr="The Midnight Cur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02920"/>
            <a:ext cx="2657475" cy="685800"/>
          </a:xfrm>
          <a:prstGeom prst="rect">
            <a:avLst/>
          </a:prstGeom>
        </p:spPr>
      </p:pic>
      <p:sp>
        <p:nvSpPr>
          <p:cNvPr id="5" name="Potion Pantry curse row"/>
          <p:cNvSpPr/>
          <p:nvPr/>
        </p:nvSpPr>
        <p:spPr>
          <a:xfrm>
            <a:off x="548640" y="1783080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6" name="Potion Pantr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11096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7830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Potion Pantry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178308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full moon festival is announced for next week. Demand for 3 ingredients triples.</a:t>
            </a:r>
            <a:endParaRPr lang="en-US" sz="1400" dirty="0"/>
          </a:p>
        </p:txBody>
      </p:sp>
      <p:sp>
        <p:nvSpPr>
          <p:cNvPr id="9" name="Phantom Hotline curse row"/>
          <p:cNvSpPr/>
          <p:nvPr/>
        </p:nvSpPr>
        <p:spPr>
          <a:xfrm>
            <a:off x="548640" y="2633472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0" name="Phantom Hotlin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61488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63347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Phantom Hotline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4572000" y="263347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latency limit drops to 600 ms, and callers switch language mid-sentence.</a:t>
            </a:r>
            <a:endParaRPr lang="en-US" sz="1400" dirty="0"/>
          </a:p>
        </p:txBody>
      </p:sp>
      <p:sp>
        <p:nvSpPr>
          <p:cNvPr id="13" name="Possessed Butler curse row"/>
          <p:cNvSpPr/>
          <p:nvPr/>
        </p:nvSpPr>
        <p:spPr>
          <a:xfrm>
            <a:off x="548640" y="3483864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4" name="Possessed Butl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118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34838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Possessed Butler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0" y="348386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Possession Round: write curses to attack other teams' butlers. Points for attack and defence.</a:t>
            </a:r>
            <a:endParaRPr lang="en-US" sz="1400" dirty="0"/>
          </a:p>
        </p:txBody>
      </p:sp>
      <p:sp>
        <p:nvSpPr>
          <p:cNvPr id="17" name="Midnight Crossroads curse row"/>
          <p:cNvSpPr/>
          <p:nvPr/>
        </p:nvSpPr>
        <p:spPr>
          <a:xfrm>
            <a:off x="548640" y="4334256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18" name="Midnight Crossroad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62272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3040" y="433425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Midnight Crossroads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0" y="4334256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funeral procession (emergency-vehicle priority) and a fog curse on night footage.</a:t>
            </a:r>
            <a:endParaRPr lang="en-US" sz="1400" dirty="0"/>
          </a:p>
        </p:txBody>
      </p:sp>
      <p:sp>
        <p:nvSpPr>
          <p:cNvPr id="21" name="Coven of Hospitals curse row"/>
          <p:cNvSpPr/>
          <p:nvPr/>
        </p:nvSpPr>
        <p:spPr>
          <a:xfrm>
            <a:off x="548640" y="5184648"/>
            <a:ext cx="108813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8CBB2"/>
            </a:solidFill>
            <a:prstDash val="solid"/>
          </a:ln>
        </p:spPr>
      </p:sp>
      <p:pic>
        <p:nvPicPr>
          <p:cNvPr id="22" name="Coven of Hospital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12664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463040" y="51846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Coven of Hospitals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4572000" y="518464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hospital is corrupted and sends poisoned updates. Detect it and stay accurate.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54864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Keep this slide hidden until midnight.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36792"/>
            <a:ext cx="548640" cy="30175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-O-Lantern">
  <a:themeElements>
    <a:clrScheme name="Hack-O-Lantern">
      <a:dk1>
        <a:srgbClr val="1A1A1A"/>
      </a:dk1>
      <a:lt1>
        <a:srgbClr val="F8F2E6"/>
      </a:lt1>
      <a:dk2>
        <a:srgbClr val="5C5248"/>
      </a:dk2>
      <a:lt2>
        <a:srgbClr val="EDE6D3"/>
      </a:lt2>
      <a:accent1>
        <a:srgbClr val="E9572B"/>
      </a:accent1>
      <a:accent2>
        <a:srgbClr val="F5C59C"/>
      </a:accent2>
      <a:accent3>
        <a:srgbClr val="1A1A1A"/>
      </a:accent3>
      <a:accent4>
        <a:srgbClr val="B8401F"/>
      </a:accent4>
      <a:accent5>
        <a:srgbClr val="8C8172"/>
      </a:accent5>
      <a:accent6>
        <a:srgbClr val="F2A65A"/>
      </a:accent6>
      <a:hlink>
        <a:srgbClr val="E9572B"/>
      </a:hlink>
      <a:folHlink>
        <a:srgbClr val="B8401F"/>
      </a:folHlink>
    </a:clrScheme>
    <a:fontScheme name="Hack-O-Lantern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Hack-O-Lantern: Halloween Overnight Hackathon</dc:title>
  <dc:subject>PptxGenJS Presentation</dc:subject>
  <dc:creator>Vulcan Club, Mirai School of Technology</dc:creator>
  <cp:lastModifiedBy>Vulcan Club, Mirai School of Technology</cp:lastModifiedBy>
  <cp:revision>1</cp:revision>
  <dcterms:created xsi:type="dcterms:W3CDTF">2026-10-31T14:52:07Z</dcterms:created>
  <dcterms:modified xsi:type="dcterms:W3CDTF">2026-10-31T14:52:07Z</dcterms:modified>
</cp:coreProperties>
</file>